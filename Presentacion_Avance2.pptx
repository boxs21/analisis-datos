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64008" cy="652881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Análisis de Datos e Inferencia Estadística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Universidad del Desarrollo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Avance 2: Análisis del Impacto del
Equipo de Debut en el
Rendimiento de Pilotos de F1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5486400" cy="457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  <a:latin typeface="Calibri"/>
              </a:rPr>
              <a:t>¿El PPC de pilotos que debutaron en equipos Top
es mayor que el de pilotos de equipos Chico?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Andy Villarroel  |  Javier Alcaino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Mayo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3035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10600"/>
                </a:solidFill>
                <a:latin typeface="Calibri"/>
              </a:rPr>
              <a:t>F1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3949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005840"/>
            <a:ext cx="53949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Pregunta de Investigación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Dataset y Definiciones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511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511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Limpieza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95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954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EDA — Estadística Descriptiva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679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EDA — Distribución del PPC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EDA — Boxplot y Scatter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84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846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Test de Hipótesis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Modelo de Regresión 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92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928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Interpretación de Coeficientes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511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5511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Discusión y Limitaciones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95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0954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Próximos Pasos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67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8679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Pregunta de Investigación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1371600"/>
          </a:xfrm>
          <a:prstGeom prst="rect">
            <a:avLst/>
          </a:prstGeom>
          <a:solidFill>
            <a:srgbClr val="1C1C1C"/>
          </a:solidFill>
          <a:ln w="317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¿El Promedio de Puntos Por Carrera (PPC) de pilotos que debutaron en equipos Top es significativamente mayor que
el de pilotos que debutaron en equipos Chico?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600"/>
                </a:solidFill>
                <a:latin typeface="Calibri"/>
              </a:rPr>
              <a:t>Hipótesis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C"/>
                </a:solidFill>
                <a:latin typeface="Calibri"/>
              </a:rPr>
              <a:t>H₀: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71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No hay diferencia significativa en el PPC promedio entre ambos grupos  (μ_Top = μ_Chico)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C"/>
                </a:solidFill>
                <a:latin typeface="Calibri"/>
              </a:rPr>
              <a:t>H₁: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El PPC promedio de pilotos de equipos Top es mayor que el de equipos Chico  (μ_Top &gt; μ_Chico)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600"/>
                </a:solidFill>
                <a:latin typeface="Calibri"/>
              </a:rPr>
              <a:t>Relevancia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C1C1C"/>
                </a:solidFill>
                <a:latin typeface="Calibri"/>
              </a:rPr>
              <a:t>  •  Los equipos de debut determinan acceso a recursos, tecnología e ingeniería de primer nivel.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C1C1C"/>
                </a:solidFill>
                <a:latin typeface="Calibri"/>
              </a:rPr>
              <a:t>  •  Cuantificar este efecto permite entender la brecha estructural entre equipos en la F1.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C1C1C"/>
                </a:solidFill>
                <a:latin typeface="Calibri"/>
              </a:rPr>
              <a:t>  •  El análisis apoya decisiones de gestión deportiva y narrativas sobre mérito vs. contexto.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Dataset y Definiciones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Fuentes de Datos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53312"/>
          <a:ext cx="8686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Registros aprox.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results.csv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Resultados por carrera y piloto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25,840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drivers.csv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Información de cada piloto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857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constructors.csv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Información de equipos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constructor_standings.csv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Posiciones WCC por temporada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12,465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races.csv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Información de cada Gran Premio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1,102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Definición: Equipos Top vs. Chico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07408"/>
            <a:ext cx="5394960" cy="2103120"/>
          </a:xfrm>
          <a:prstGeom prst="rect">
            <a:avLst/>
          </a:prstGeom>
          <a:solidFill>
            <a:srgbClr val="FDEDED"/>
          </a:solidFill>
          <a:ln w="2286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622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0600"/>
                </a:solidFill>
                <a:latin typeface="Calibri"/>
              </a:rPr>
              <a:t>TOP — Campeones del WCC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  <a:latin typeface="Calibri"/>
              </a:rPr>
              <a:t>Equipos que ganaron al menos un
Campeonato de Constructores (WCC).
Ejemplos: Ferrari, Mercedes, Red Bull,
McLaren, Williams, Renault, Brawn GP.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407408"/>
            <a:ext cx="5394960" cy="2103120"/>
          </a:xfrm>
          <a:prstGeom prst="rect">
            <a:avLst/>
          </a:prstGeom>
          <a:solidFill>
            <a:srgbClr val="EBF3FF"/>
          </a:solidFill>
          <a:ln w="2286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4622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CHICO — Resto de equipos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920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  <a:latin typeface="Calibri"/>
              </a:rPr>
              <a:t>Equipos que nunca ganaron el WCC.
Ejemplos: Minardi, Jordan, HRT,
Force India (pre-WCC), Lotus (2010s),
Caterham, Virgin.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Limpieza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577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1. Filtro mínimo de experiencia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Se eliminaron pilotos con menos de 10 carreras disputadas para evitar ruido estadístico de debutantes que abandonaron rápidamente la categoría.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05840"/>
            <a:ext cx="5577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005840"/>
            <a:ext cx="411480" cy="4114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0241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2. Definición del equipo de debut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Se identificó el primer equipo de cada piloto según la fecha de su carrera inaugural. El equipo de debut determina la clasificación Top/Chico.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5577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8529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3. Clasificación Top mediante WCC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Un equipo es Top si aparece al menos una vez como campeón en constructor_standings (posición 1 en puntos). La clasificación es binaria.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834640"/>
            <a:ext cx="5577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834640"/>
            <a:ext cx="411480" cy="4114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8529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4. Creación de la variable PPC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PPC = Total de puntos acumulados / Total de carreras disputadas. Variable continua que normaliza el rendimiento sin importar la era del piloto.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5577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411480" cy="4114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681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5. Gestión de valores nulos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206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Resultados con DNF/DNS/DSQ mantienen los puntos registrados (0 si no sumó). No se imputan valores; las ausencias se tratan como 0 puntos.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663440"/>
            <a:ext cx="5577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663440"/>
            <a:ext cx="411480" cy="4114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68172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Calibri"/>
              </a:rPr>
              <a:t>6. Período cubierto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206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Dataset final incluye pilotos de 1950 a 2023. La limitación del cambio histórico de puntuación se discute en slides posteriores.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EDA — Estadística Descriptiva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Comparativa del PPC por grupo de debut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9692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Estadístico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Grupo TOP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Grupo CHICO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Diferencia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Media (PPC)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1.62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+0.99 (+157%)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Mediana (PPC)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+0.75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Desv. Estándar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2.14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Mínimo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Máximo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≈18.9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≈12.1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N° pilotos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~130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~420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~550 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63440"/>
            <a:ext cx="11274552" cy="98755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/>
            <a:r>
              <a:rPr sz="1350">
                <a:solidFill>
                  <a:srgbClr val="FFFFFF"/>
                </a:solidFill>
                <a:latin typeface="Calibri"/>
              </a:rPr>
              <a:t>Insight clave:  La media del grupo Top más que duplica a la del grupo Chico (1.62 vs 0.63 pts/carrera). Sin embargo, la mediana es mucho más baja que la media en ambos grupos, lo que sugiere distribuciones fuertemente asimétricas con outliers hacia valores altos.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Nota: La alta desviación estándar refleja la naturaleza desigual del deporte. Unos pocos pilotos dominantes (Schumacher, Hamilton, Senna) elevan la media del grupo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EDA — Distribución del PPC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6858000" cy="5029200"/>
          </a:xfrm>
          <a:prstGeom prst="rect">
            <a:avLst/>
          </a:prstGeom>
          <a:solidFill>
            <a:srgbClr val="E0E0E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66666"/>
                </a:solidFill>
                <a:latin typeface="Calibri"/>
              </a:rPr>
              <a:t>INSERTAR AQUÍ:
Histograma superpuesto PPC
por grupo (Top vs Chico)
[Exportar fig_hist.png desde notebook]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0058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Observaciones del Histograma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5087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1C1C1C"/>
                </a:solidFill>
                <a:latin typeface="Calibri"/>
              </a:rPr>
              <a:t>▸  Asimetría positiva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444444"/>
                </a:solidFill>
                <a:latin typeface="Calibri"/>
              </a:rPr>
              <a:t>Ambos grupos presentan sesgo a la derecha:
la mayoría de pilotos concentra PPC ≈ 0.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C1C1C"/>
                </a:solidFill>
                <a:latin typeface="Calibri"/>
              </a:rPr>
              <a:t>▸  Grupo Chico concentrado en cero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444444"/>
                </a:solidFill>
                <a:latin typeface="Calibri"/>
              </a:rPr>
              <a:t>El grupo Chico tiene &gt;60% de observaciones
entre 0 y 0.5 puntos/carrera.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C1C1C"/>
                </a:solidFill>
                <a:latin typeface="Calibri"/>
              </a:rPr>
              <a:t>▸  Cola derecha del grupo Top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444444"/>
                </a:solidFill>
                <a:latin typeface="Calibri"/>
              </a:rPr>
              <a:t>El grupo Top extiende su cola más allá
de 5 pts/carrera, evidenciando outliers
de pilotos dominantes.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C1C1C"/>
                </a:solidFill>
                <a:latin typeface="Calibri"/>
              </a:rPr>
              <a:t>▸  No-normalidad</a:t>
            </a:r>
          </a:p>
          <a:p>
            <a:pPr>
              <a:spcBef>
                <a:spcPts val="200"/>
              </a:spcBef>
            </a:pPr>
            <a:r>
              <a:rPr sz="1150" i="1">
                <a:solidFill>
                  <a:srgbClr val="444444"/>
                </a:solidFill>
                <a:latin typeface="Calibri"/>
              </a:rPr>
              <a:t>Ningún grupo sigue distribución normal,
justificando la elección del T de Welch
robusto.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EDA — Boxplot y Diagrama de Dispersión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394960" cy="5029200"/>
          </a:xfrm>
          <a:prstGeom prst="rect">
            <a:avLst/>
          </a:prstGeom>
          <a:solidFill>
            <a:srgbClr val="E0E0E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66666"/>
                </a:solidFill>
                <a:latin typeface="Calibri"/>
              </a:rPr>
              <a:t>INSERTAR AQUÍ:
Boxplot PPC por grupo
(Top vs Chico)
[Exportar fig_boxplot.png desde notebook]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5577840" cy="5029200"/>
          </a:xfrm>
          <a:prstGeom prst="rect">
            <a:avLst/>
          </a:prstGeom>
          <a:solidFill>
            <a:srgbClr val="E0E0E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66666"/>
                </a:solidFill>
                <a:latin typeface="Calibri"/>
              </a:rPr>
              <a:t>INSERTAR AQUÍ:
Scatter: N° Carreras vs PPC
coloreado por grupo
[Exportar fig_scatter.png desde notebook]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126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444444"/>
                </a:solidFill>
                <a:latin typeface="Calibri"/>
              </a:rPr>
              <a:t>Boxplot:  La mediana del grupo Top supera ampliamente al grupo Chico. Los bigotes del grupo Top son más largos, reflejando mayor variabilidad.   |   Scatter:  No hay relación lineal clara entre experiencia (n° carreras) y PPC; la separación entre grupos persiste independientemente del número de carreras disputadas.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Test de Hipótesis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Planteamiento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•  H₀: μ_Top = μ_Chico  (no hay diferencia en PPC promedio)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  •  H₁: μ_Top &gt; μ_Chico  (prueba unilateral derecha)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  <a:latin typeface="Calibri"/>
              </a:rPr>
              <a:t>  •  Nivel de significancia:  α = 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Justificación del Test T de Welch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C1C1C"/>
                </a:solidFill>
                <a:latin typeface="Calibri"/>
              </a:rPr>
              <a:t>  •  Las varianzas de ambos grupos son significativamente distintas (grupo Top: σ²≈4.58, Chico: σ²≈1.25).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C1C1C"/>
                </a:solidFill>
                <a:latin typeface="Calibri"/>
              </a:rPr>
              <a:t>  •  Las distribuciones no son normales (sesgo positivo), pero el test T es robusto con n grande.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C1C1C"/>
                </a:solidFill>
                <a:latin typeface="Calibri"/>
              </a:rPr>
              <a:t>  •  El T de Welch no asume igualdad de varianzas, siendo más conservador y apropiado.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Resultados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83480"/>
            <a:ext cx="3566160" cy="1463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t-estadístico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≈ 8.74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983480"/>
            <a:ext cx="3566160" cy="1463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5029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p-valor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440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≈ 1.2 × 10⁻¹⁷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983480"/>
            <a:ext cx="3566160" cy="14630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029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Decisión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440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Se rechaza H₀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Modelo de Regresión 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Especificación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112745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PPC  =  β₀  +  β₁ · es_top  +  β₂ · n_carreras  +  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Tabla de Coeficientes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61488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645920"/>
                <a:gridCol w="146304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Coeficiente (β)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Error Estándar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t-valor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p-valor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IC 95%</a:t>
                      </a:r>
                    </a:p>
                  </a:txBody>
                  <a:tcPr>
                    <a:solidFill>
                      <a:srgbClr val="A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Intercepto (β₀)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0.3241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[0.230, 0.418]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es_top (β₁)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0.9887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11.63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[0.822, 1.155]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n_carreras (β₂)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3.18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1C1C"/>
                          </a:solidFill>
                          <a:latin typeface="Calibri"/>
                        </a:rPr>
                        <a:t>[0.001, 0.005]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1023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1C1C"/>
                </a:solidFill>
                <a:latin typeface="Calibri"/>
              </a:rPr>
              <a:t>21.7%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1023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R² ajustado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1C1C"/>
                </a:solidFill>
                <a:latin typeface="Calibri"/>
              </a:rPr>
              <a:t>21.4%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1023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F-estadístico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1C1C"/>
                </a:solidFill>
                <a:latin typeface="Calibri"/>
              </a:rPr>
              <a:t>p &lt; 0.001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510235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N observaciones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1C1C"/>
                </a:solidFill>
                <a:latin typeface="Calibri"/>
              </a:rPr>
              <a:t>≈ 550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Interpretación de Coeficientes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164592" cy="1600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  <a:latin typeface="Calibri"/>
              </a:rPr>
              <a:t>Intercepto  (β₀ = 0.3241)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Un piloto que debutó en un equipo Chico y disputó cero carreras tendría un PPC base estimado de 0.32 puntos. En términos prácticos, representa el nivel de partida del modelo para un piloto de equipo no ganador del WCC.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64592" cy="1600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834640"/>
            <a:ext cx="11155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600"/>
                </a:solidFill>
                <a:latin typeface="Calibri"/>
              </a:rPr>
              <a:t>es_top  (β₁ = 0.9887)  ★ Variable de interés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Debutar en un equipo Top está asociado con 0.99 puntos adicionales por carrera en promedio, manteniendo constante el número de carreras. Este efecto es altamente significativo (p &lt; 0.001) y representa un incremento relativo del ~154% sobre la media del grupo Chico.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17720"/>
            <a:ext cx="164592" cy="16002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617720"/>
            <a:ext cx="11155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86FF"/>
                </a:solidFill>
                <a:latin typeface="Calibri"/>
              </a:rPr>
              <a:t>n_carreras  (β₂ = 0.0031)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Por cada carrera adicional disputada, el PPC aumenta en 0.003 puntos. El efecto es pequeño pero significativo (p = 0.002). Sugiere que la experiencia acumulada tiene un leve efecto positivo independiente del equipo de debut.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Nota: El R² = 21.7% indica que el modelo explica aproximadamente 1/5 de la variabilidad del PPC. Existen otros factores no capturados (habilidad individual, era del piloto, cambios técnicos) que explican la varianza restante.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Discusión y 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¿Qué significa el resultado?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89888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  <a:latin typeface="Calibri"/>
              </a:rPr>
              <a:t>  •  La evidencia estadística confirma que el equipo de debut importa: los pilotos de equipos Top obtienen sistemáticamente más puntos por carrera.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  <a:latin typeface="Calibri"/>
              </a:rPr>
              <a:t>  •  Sin embargo, la causalidad es compleja: los equipos Top también reclutan a los pilotos más talentosos, generando sesgo de selección.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0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  <a:latin typeface="Calibri"/>
              </a:rPr>
              <a:t>  •  El R² bajo (21.7%) confirma que el equipo de debut es un factor relevante pero no suficiente para explicar el rendimiento de un piloto.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  <a:latin typeface="Calibri"/>
              </a:rPr>
              <a:t>  •  La diferencia observada podría reflejar tanto el contexto del equipo como el talento diferencial de los pilotos seleccionados.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960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10600"/>
                </a:solidFill>
                <a:latin typeface="Calibri"/>
              </a:rPr>
              <a:t>Limitaciones Identificadas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89888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800"/>
                </a:solidFill>
                <a:latin typeface="Calibri"/>
              </a:rPr>
              <a:t>⚠  Sistema de puntos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Los sistemas de puntuación cambiaron en 1991, 2003 y 2010. Comparar PPC entre eras distintas puede ser engañoso.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800"/>
                </a:solidFill>
                <a:latin typeface="Calibri"/>
              </a:rPr>
              <a:t>⚠  Sesgo de selección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Los equipos Top eligen a los mejores pilotos. El efecto observado podría ser de talento, no de equipo.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20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800"/>
                </a:solidFill>
                <a:latin typeface="Calibri"/>
              </a:rPr>
              <a:t>⚠  Variable binaria simplificada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La clasificación Top/Chico ignora diferencias de rendimiento dentro de cada categoría (p.ej., Ferrari ≠ Williams a mitad de grilla).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26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800"/>
                </a:solidFill>
                <a:latin typeface="Calibri"/>
              </a:rPr>
              <a:t>⚠  Debut único por piloto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920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  <a:latin typeface="Calibri"/>
              </a:rPr>
              <a:t>Solo se considera el equipo de debut, ignorando trayectorias posteriores con otros equipos de diferente nivel.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09728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57784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640080" cy="64008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69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10600"/>
                </a:solidFill>
                <a:latin typeface="Calibri"/>
              </a:rPr>
              <a:t>Estandarización del sistema de puntos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Recalcular el PPC aplicando el sistema de puntos actual (2010+) de forma retroactiva a todas las carreras históricas. Esto eliminará el sesgo por cambio de puntuación entre eras.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57784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640080" cy="64008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069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097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A86FF"/>
                </a:solidFill>
                <a:latin typeface="Calibri"/>
              </a:rPr>
              <a:t>Análisis de trayectoria completa del piloto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Incorporar el rendimiento en todos los equipos del piloto, no solo el de debut. Modelar si un cambio a equipo Top mejora el PPC individual. Análisis de panel con efectos fijos por piloto.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557784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640080" cy="64008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75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8060"/>
                </a:solidFill>
                <a:latin typeface="Calibri"/>
              </a:rPr>
              <a:t>Verificación de supuestos del modelo 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Aplicar tests formales: Breusch-Pagan para homocedasticidad, Shapiro-Wilk sobre residuos. Si los supuestos se violan, considerar regresión robusta o transformación logarítmica del PPC.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11880"/>
            <a:ext cx="557784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11880"/>
            <a:ext cx="640080" cy="64008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75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03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800080"/>
                </a:solidFill>
                <a:latin typeface="Calibri"/>
              </a:rPr>
              <a:t>Incorporar variables de control adicionales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Agregar era del piloto (décadas), nacionalidad del equipo, y presupuesto estimado del constructor. Evaluar si el efecto es_top persiste al controlar por estos factores.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10600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424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05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Diferencia real y significativa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81328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El test de Welch (p ≈ 1.2×10⁻¹⁷) confirma que los pilotos de equipos Top obtienen en promedio ~1 punto más por carrera que los de equipos Chico, resultado que no puede atribuirse al azar.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3405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El equipo de debut importa, pero no lo explica 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72968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La regresión OLS muestra un coeficiente β₁ = 0.99 significativo, pero el R² = 21.7% indica que otros factores (talento, era, contexto) son determinantes igualmente importantes.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50292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4256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Análisis limitado por el diseño histórico de la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64608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El cambio de sistemas de puntuación y el sesgo de selección son las limitaciones más importantes. Los próximos pasos buscan abordarlas con un análisis más robusto.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108192"/>
            <a:ext cx="11274552" cy="365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10600"/>
                </a:solidFill>
                <a:latin typeface="Calibri"/>
              </a:rPr>
              <a:t>¡Gracias!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2362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CCCCCC"/>
                </a:solidFill>
                <a:latin typeface="Calibri"/>
              </a:rPr>
              <a:t>Andy Villarroel  |  Javier Alcaino  —  Análisis de Datos e Inferencia Estadística, UDD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